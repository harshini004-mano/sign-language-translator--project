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ni manoharan" userId="c1c8b98de47d0a34" providerId="LiveId" clId="{5129B2FD-8DEC-4DC4-85DA-2ACD6EE87D1C}"/>
    <pc:docChg chg="modSld sldOrd">
      <pc:chgData name="harshini manoharan" userId="c1c8b98de47d0a34" providerId="LiveId" clId="{5129B2FD-8DEC-4DC4-85DA-2ACD6EE87D1C}" dt="2025-09-12T10:03:40.653" v="1"/>
      <pc:docMkLst>
        <pc:docMk/>
      </pc:docMkLst>
      <pc:sldChg chg="ord">
        <pc:chgData name="harshini manoharan" userId="c1c8b98de47d0a34" providerId="LiveId" clId="{5129B2FD-8DEC-4DC4-85DA-2ACD6EE87D1C}" dt="2025-09-12T10:03:40.653" v="1"/>
        <pc:sldMkLst>
          <pc:docMk/>
          <pc:sldMk cId="738461694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4367-3F54-5CCF-1937-3E3048BB9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0F93B-156B-4198-F224-F39FB1373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FC0F3-93A9-4BC6-FC94-C965136C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48DA2-1C36-17A8-3DB2-D259F0430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804CB-6C61-2B48-36E5-9B239EDF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51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CC49-7947-2E51-EFFE-78C4AD148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BAC81-D9A9-510B-857D-2DF25A841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B6FE9-65DC-6DC2-A289-F9EF707C1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DAFC9-E79C-D002-B851-F5293A842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2DC7D-AE25-7D7B-ABCA-F0041CB80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890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E8F2A-FB79-64C0-AE35-D8EA3B35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BA176-212A-E253-5769-D9C9B1C51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94CD6-0DEC-D573-474D-66BF5FC22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E6EDE-55D7-3FF4-AC83-80231A737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48CD5-45DE-096E-5018-414B79A5E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875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9AEAC-C560-6105-E016-A96369691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7313C-5ED7-6E5D-65F9-AC3CD8192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D7AFB-D97F-10A8-F761-C57D975E1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033A1-30D3-1BE9-2B23-7BE67581F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5D108-8DCD-6178-C096-BA4BD88FF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2B0CC-C7CE-A812-F315-BA978F268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97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39F01-5C83-428B-5403-EC51A345E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1AF15-5679-6DC4-EF6D-C82C114E3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A19FE-FC0D-0468-6604-0B0AD9513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E7B77-D2A7-6D06-8439-3F24BF44DE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82DB56-7AB1-E57F-DB71-2582DD863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12066B-521C-B371-45B0-2CE6928D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1EC24-37B8-443D-9EBE-8FF0E73CA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80D66B-9423-21DE-2A00-8B813426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049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8B06-A869-D8D4-4B44-9C087579A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E8BE13-FAA3-58BE-A64C-41376FB1F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226CB-0FAE-79AE-38B9-32C051F8C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460A8-D914-1C71-D8E9-9C74D608B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773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FF906-89AB-0B34-C6FD-7EBC078D2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7F2390-4DBB-AF54-52BA-5DA7933BA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7DE58A-0129-D28A-99AB-59CB3C47E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01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18CF-2D48-34DA-3F74-DD9C4FD9E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35E7E-5AC8-623E-A4EA-BE50D3D12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ECCBC-4662-55F3-D824-569C52621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DA189-06B1-5740-1685-14E5B0E11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39549-4DC2-E258-8233-D2C612608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1C041-9823-86FF-C30E-00105F53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57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0AB9D-33CF-9DA8-FC8E-4A4BD87B3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6837A1-2015-FCD6-C9D2-0CAC636963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2BBB6-FCAD-C510-223A-F767367A0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38373-2A40-1294-2875-3B5792928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1DEEDB-BBEC-C24C-411F-09EFBD547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5FE89-0CFB-FE9D-7865-A4B2F63B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72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F79D-2E7A-4F52-ABE3-7E81459A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1C832-95C0-CADB-EACB-646E8BB11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DD51A-1401-75AE-08EE-3331C23F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7997D-EBEF-E482-AD7D-5218DE0F9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90195-9B5D-36B3-4B34-3369DFEFF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00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CC703-191F-BF30-3BE5-EF408859D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C7355-2904-278C-C0C9-06C1CF21F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A7206-F989-04E8-3135-256CFDDC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A66C6-7796-85E8-D01B-3DCD11668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94A57-1AB8-7F3D-0107-F1B16448B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9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417F3B-7539-4926-5909-207C56EA4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EE6E0-BD30-7DAE-D5F1-D2517B813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225A1-EAE6-D821-0D5D-C3C414F59A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2252D-1DA2-4FA5-BF48-F0906C57153C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3E919-8191-C521-E8A3-CFA916CF3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0E6CE-6AF2-DA68-904D-56A801FD1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D435-ECEB-44F7-97DD-8DFC31D669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5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73829-7459-ACB0-38AC-D34F5D553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REAL TIME SIGN LANGUAGE </a:t>
            </a:r>
            <a:r>
              <a:rPr lang="en-GB" dirty="0"/>
              <a:t>TRANSLATOR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919B22-9B48-D2A7-8449-74722FF12A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HARSHINI M</a:t>
            </a:r>
          </a:p>
          <a:p>
            <a:r>
              <a:rPr lang="en-IN" dirty="0"/>
              <a:t>JANAINI S</a:t>
            </a:r>
          </a:p>
          <a:p>
            <a:r>
              <a:rPr lang="en-IN" dirty="0"/>
              <a:t>KEERTHANA G</a:t>
            </a:r>
          </a:p>
          <a:p>
            <a:r>
              <a:rPr lang="en-IN" dirty="0"/>
              <a:t>BHUVANESHWARI P</a:t>
            </a:r>
          </a:p>
        </p:txBody>
      </p:sp>
    </p:spTree>
    <p:extLst>
      <p:ext uri="{BB962C8B-B14F-4D97-AF65-F5344CB8AC3E}">
        <p14:creationId xmlns:p14="http://schemas.microsoft.com/office/powerpoint/2010/main" val="738461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D2CE-2FF7-6113-27C9-865212A6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9A9E9-8B58-4B0C-DA1A-B8CB59A63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 Communication between individuals who use sign language and those who do not often requires a human interpreter. However, interpreters may not always be available, and learning sign language is not common among the general population. This creates a significant communication barrier that restricts social interaction, education opportunities, and workplace inclusivity for people with hearing and speech impairments.</a:t>
            </a:r>
            <a:endParaRPr lang="en-IN" dirty="0"/>
          </a:p>
          <a:p>
            <a:r>
              <a:rPr lang="en-GB" dirty="0"/>
              <a:t> </a:t>
            </a:r>
            <a:endParaRPr lang="en-IN" dirty="0"/>
          </a:p>
          <a:p>
            <a:r>
              <a:rPr lang="en-GB" dirty="0"/>
              <a:t>            There is a need for an automated, real-time system that can recognize and translate sign language gestures into a format understandable by everyone.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624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A528-5837-DE3A-6A7A-EEA17C2E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46307-73D7-8564-2A60-6C19DD012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 The main objectives of this project are:</a:t>
            </a:r>
            <a:endParaRPr lang="en-IN" dirty="0"/>
          </a:p>
          <a:p>
            <a:r>
              <a:rPr lang="en-GB" dirty="0"/>
              <a:t> </a:t>
            </a:r>
            <a:endParaRPr lang="en-IN" dirty="0"/>
          </a:p>
          <a:p>
            <a:pPr lvl="0"/>
            <a:r>
              <a:rPr lang="en-GB" dirty="0"/>
              <a:t>To design a real-time system capable of capturing hand gestures using a webcam.</a:t>
            </a:r>
            <a:endParaRPr lang="en-IN" dirty="0"/>
          </a:p>
          <a:p>
            <a:r>
              <a:rPr lang="en-GB" dirty="0"/>
              <a:t> </a:t>
            </a:r>
            <a:endParaRPr lang="en-IN" dirty="0"/>
          </a:p>
          <a:p>
            <a:pPr lvl="0"/>
            <a:r>
              <a:rPr lang="en-GB" dirty="0"/>
              <a:t>To preprocess and extract hand landmarks using computer vision techniques.</a:t>
            </a:r>
            <a:endParaRPr lang="en-IN" dirty="0"/>
          </a:p>
          <a:p>
            <a:r>
              <a:rPr lang="en-GB" dirty="0"/>
              <a:t> </a:t>
            </a:r>
            <a:endParaRPr lang="en-IN" dirty="0"/>
          </a:p>
          <a:p>
            <a:pPr lvl="0"/>
            <a:r>
              <a:rPr lang="en-GB" dirty="0"/>
              <a:t>To classify sign language gestures using machine learning algorithms.</a:t>
            </a:r>
            <a:endParaRPr lang="en-IN" dirty="0"/>
          </a:p>
          <a:p>
            <a:r>
              <a:rPr lang="en-GB" dirty="0"/>
              <a:t> </a:t>
            </a:r>
            <a:endParaRPr lang="en-IN" dirty="0"/>
          </a:p>
          <a:p>
            <a:pPr lvl="0"/>
            <a:r>
              <a:rPr lang="en-GB" dirty="0"/>
              <a:t>To display the recognized gestures as text in real time.</a:t>
            </a:r>
            <a:endParaRPr lang="en-IN" dirty="0"/>
          </a:p>
          <a:p>
            <a:r>
              <a:rPr lang="en-GB" dirty="0"/>
              <a:t> </a:t>
            </a:r>
            <a:endParaRPr lang="en-IN" dirty="0"/>
          </a:p>
          <a:p>
            <a:pPr lvl="0"/>
            <a:r>
              <a:rPr lang="en-GB" dirty="0"/>
              <a:t>To provide an option for converting recognized gestures into speech for effective communication.</a:t>
            </a:r>
            <a:endParaRPr lang="en-IN" dirty="0"/>
          </a:p>
          <a:p>
            <a:r>
              <a:rPr lang="en-GB" dirty="0"/>
              <a:t> </a:t>
            </a:r>
            <a:endParaRPr lang="en-IN" dirty="0"/>
          </a:p>
          <a:p>
            <a:pPr lvl="0"/>
            <a:r>
              <a:rPr lang="en-GB" dirty="0"/>
              <a:t>To create a low-cost, accessible solution that can be extended to mobile or wearable devices in the future</a:t>
            </a:r>
            <a:r>
              <a:rPr lang="en-GB" b="1" dirty="0"/>
              <a:t>.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2070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6ADC1-300E-C01F-9463-468DAFB5F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IMPLEMENTATION</a:t>
            </a:r>
            <a:br>
              <a:rPr lang="en-IN" dirty="0"/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AE3A3D-296F-FDEC-46CC-54C554C8E53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04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6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31520" algn="l"/>
              </a:tabLst>
            </a:pPr>
            <a:r>
              <a:rPr lang="en-GB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1600" dirty="0"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1600"/>
              </a:lnSpc>
              <a:spcBef>
                <a:spcPts val="600"/>
              </a:spcBef>
              <a:spcAft>
                <a:spcPts val="600"/>
              </a:spcAft>
              <a:buAutoNum type="arabicPeriod"/>
              <a:tabLst>
                <a:tab pos="731520" algn="l"/>
              </a:tabLst>
            </a:pPr>
            <a:r>
              <a:rPr lang="en-GB" sz="1800" dirty="0"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Collection</a:t>
            </a:r>
          </a:p>
          <a:p>
            <a:pPr marL="0" indent="0" algn="just">
              <a:lnSpc>
                <a:spcPts val="16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31520" algn="l"/>
              </a:tabLst>
            </a:pPr>
            <a:r>
              <a:rPr lang="en-GB" sz="1800" dirty="0"/>
              <a:t>2.Preprocessing</a:t>
            </a:r>
          </a:p>
          <a:p>
            <a:pPr marL="0" indent="0" algn="just">
              <a:lnSpc>
                <a:spcPts val="16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31520" algn="l"/>
              </a:tabLst>
            </a:pPr>
            <a:r>
              <a:rPr lang="en-GB" sz="1800" dirty="0"/>
              <a:t>3. Hand Landmark Detection</a:t>
            </a:r>
          </a:p>
          <a:p>
            <a:pPr marL="0" indent="0" algn="just">
              <a:lnSpc>
                <a:spcPts val="16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31520" algn="l"/>
              </a:tabLst>
            </a:pPr>
            <a:r>
              <a:rPr lang="en-GB" sz="1800" dirty="0"/>
              <a:t>4. Model Training</a:t>
            </a:r>
            <a:endParaRPr lang="en-IN" sz="1800" dirty="0"/>
          </a:p>
          <a:p>
            <a:pPr marL="0" indent="0" algn="just">
              <a:lnSpc>
                <a:spcPts val="16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31520" algn="l"/>
              </a:tabLst>
            </a:pPr>
            <a:r>
              <a:rPr lang="en-GB" sz="1800" dirty="0"/>
              <a:t>5. Real-Time Gesture Recognition</a:t>
            </a:r>
            <a:endParaRPr lang="en-IN" sz="1800" dirty="0"/>
          </a:p>
          <a:p>
            <a:pPr marL="0" indent="0">
              <a:buNone/>
            </a:pPr>
            <a:r>
              <a:rPr lang="en-GB" sz="1800" dirty="0"/>
              <a:t>6. Speech Output Integration</a:t>
            </a:r>
            <a:endParaRPr lang="en-IN" sz="1800" dirty="0"/>
          </a:p>
          <a:p>
            <a:pPr marL="0" indent="0" algn="just">
              <a:lnSpc>
                <a:spcPts val="16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31520" algn="l"/>
              </a:tabLst>
            </a:pPr>
            <a:r>
              <a:rPr lang="en-GB" sz="1800" dirty="0"/>
              <a:t>7. User Interface</a:t>
            </a:r>
            <a:endParaRPr lang="en-IN" sz="1800" dirty="0"/>
          </a:p>
          <a:p>
            <a:pPr marL="0" indent="0" algn="just">
              <a:lnSpc>
                <a:spcPts val="16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31520" algn="l"/>
              </a:tabLst>
            </a:pPr>
            <a:endParaRPr lang="en-IN" sz="1800" dirty="0"/>
          </a:p>
          <a:p>
            <a:pPr marL="0" indent="0" algn="just">
              <a:lnSpc>
                <a:spcPts val="16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731520" algn="l"/>
              </a:tabLst>
            </a:pPr>
            <a:endParaRPr lang="en-IN" sz="1800" dirty="0"/>
          </a:p>
          <a:p>
            <a:pPr marL="342900" indent="-342900" algn="just">
              <a:lnSpc>
                <a:spcPts val="1600"/>
              </a:lnSpc>
              <a:spcBef>
                <a:spcPts val="600"/>
              </a:spcBef>
              <a:spcAft>
                <a:spcPts val="600"/>
              </a:spcAft>
              <a:buAutoNum type="arabicPeriod"/>
              <a:tabLst>
                <a:tab pos="731520" algn="l"/>
              </a:tabLst>
            </a:pPr>
            <a:endParaRPr lang="en-IN" sz="1600" dirty="0"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144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5CCBE-F771-F3DE-6534-9CB318D01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FF2F0-B5F4-1AC8-1D08-3973AC211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 1. Recognition Accuracy</a:t>
            </a:r>
          </a:p>
          <a:p>
            <a:r>
              <a:rPr lang="en-GB" dirty="0"/>
              <a:t>2. Real-Time Performance</a:t>
            </a:r>
            <a:endParaRPr lang="en-IN" dirty="0"/>
          </a:p>
          <a:p>
            <a:r>
              <a:rPr lang="en-GB" dirty="0"/>
              <a:t>3. Output Examples</a:t>
            </a:r>
            <a:endParaRPr lang="en-IN" dirty="0"/>
          </a:p>
          <a:p>
            <a:r>
              <a:rPr lang="en-GB" dirty="0"/>
              <a:t>4. Observations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4054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686C-BE78-9793-6AA5-85F749EA9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685CA-B597-E4E4-CA75-339D00F4F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/>
              <a:t> </a:t>
            </a:r>
            <a:r>
              <a:rPr lang="en-GB" sz="2600" dirty="0"/>
              <a:t>The Real-Time Sign Language Translator was successfully developed as a prototype system to address the communication barrier between the deaf-mute community and non-signers. By integrating computer vision, machine learning, and speech synthesis, the system was able to recognize hand gestures captured through a webcam and translate them into both text and speech output.</a:t>
            </a:r>
            <a:endParaRPr lang="en-IN" sz="2600" dirty="0"/>
          </a:p>
          <a:p>
            <a:r>
              <a:rPr lang="en-GB" sz="2600" dirty="0"/>
              <a:t>          </a:t>
            </a:r>
            <a:endParaRPr lang="en-IN" sz="2600" dirty="0"/>
          </a:p>
          <a:p>
            <a:r>
              <a:rPr lang="en-GB" sz="2600" dirty="0"/>
              <a:t>             The implementation using </a:t>
            </a:r>
            <a:r>
              <a:rPr lang="en-GB" sz="2600" dirty="0" err="1"/>
              <a:t>MediaPipe</a:t>
            </a:r>
            <a:r>
              <a:rPr lang="en-GB" sz="2600" dirty="0"/>
              <a:t> hand landmarks and a trained classification model demonstrated that real-time recognition can be achieved with high efficiency on standard hardware without the need for expensive sensors or data gloves. The project fulfilled its objectives of creating a low-cost, accessible, and user-friendly solution for gesture recognition.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907686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0D19B-F581-39CC-1B55-EBD69532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 </a:t>
            </a:r>
            <a:br>
              <a:rPr lang="en-IN" dirty="0"/>
            </a:br>
            <a:r>
              <a:rPr lang="en-GB" dirty="0"/>
              <a:t>  </a:t>
            </a:r>
            <a:r>
              <a:rPr lang="en-GB" b="1" dirty="0"/>
              <a:t>FUTURE ENHANCEMENT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E55E5-2465-D1A2-5EF4-F913FD1D4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Continuous Gesture Recognition</a:t>
            </a:r>
          </a:p>
          <a:p>
            <a:endParaRPr lang="en-GB" b="1" dirty="0"/>
          </a:p>
          <a:p>
            <a:endParaRPr lang="en-IN" dirty="0"/>
          </a:p>
          <a:p>
            <a:r>
              <a:rPr lang="en-GB" b="1" dirty="0"/>
              <a:t>Expanded Vocabulary</a:t>
            </a:r>
          </a:p>
          <a:p>
            <a:endParaRPr lang="en-GB" b="1" dirty="0"/>
          </a:p>
          <a:p>
            <a:endParaRPr lang="en-IN" dirty="0"/>
          </a:p>
          <a:p>
            <a:r>
              <a:rPr lang="en-GB" b="1" dirty="0"/>
              <a:t>Multi-Language Support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5889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5976-78F5-951F-0EAC-FE1F9C44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REFERENCES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A6758-B79E-7171-1207-DC12BDC3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 err="1"/>
              <a:t>Camgoz</a:t>
            </a:r>
            <a:r>
              <a:rPr lang="en-GB" sz="2200" dirty="0"/>
              <a:t>, N. C., Hadfield, S., Koller, O., Ney, H., &amp; Bowden, R. (2018).</a:t>
            </a:r>
            <a:r>
              <a:rPr lang="en-GB" sz="2200" b="1" dirty="0"/>
              <a:t> Neural Sign Language Translation</a:t>
            </a:r>
            <a:r>
              <a:rPr lang="en-GB" sz="2200" dirty="0"/>
              <a:t>. Proceedings of the IEEE Conference on Computer Vision and Pattern Recognition (CVPR), 7784–7793.</a:t>
            </a:r>
            <a:endParaRPr lang="en-IN" sz="2200" dirty="0"/>
          </a:p>
          <a:p>
            <a:r>
              <a:rPr lang="en-GB" sz="2200" dirty="0"/>
              <a:t> </a:t>
            </a:r>
            <a:endParaRPr lang="en-IN" sz="2200" dirty="0"/>
          </a:p>
          <a:p>
            <a:r>
              <a:rPr lang="en-GB" sz="2200" dirty="0"/>
              <a:t>Google AI. (2020). </a:t>
            </a:r>
            <a:r>
              <a:rPr lang="en-GB" sz="2200" dirty="0" err="1"/>
              <a:t>MediaPipe</a:t>
            </a:r>
            <a:r>
              <a:rPr lang="en-GB" sz="2200" dirty="0"/>
              <a:t> Hands: On-Device </a:t>
            </a:r>
            <a:r>
              <a:rPr lang="en-GB" sz="2200" b="1" dirty="0"/>
              <a:t>Real-Time Hand Tracking</a:t>
            </a:r>
            <a:r>
              <a:rPr lang="en-GB" sz="2200" dirty="0"/>
              <a:t>. Retrieved from: https://mediapipe.dev</a:t>
            </a:r>
            <a:endParaRPr lang="en-IN" sz="2200" dirty="0"/>
          </a:p>
          <a:p>
            <a:r>
              <a:rPr lang="en-GB" sz="2200" dirty="0"/>
              <a:t> </a:t>
            </a:r>
            <a:endParaRPr lang="en-IN" sz="2200" dirty="0"/>
          </a:p>
          <a:p>
            <a:r>
              <a:rPr lang="en-GB" sz="2200" dirty="0"/>
              <a:t>Chollet, F. (2017).</a:t>
            </a:r>
            <a:r>
              <a:rPr lang="en-GB" sz="2200" b="1" dirty="0"/>
              <a:t>  Deep Learning with Python</a:t>
            </a:r>
            <a:r>
              <a:rPr lang="en-GB" sz="2200" dirty="0"/>
              <a:t>. Manning Publications.</a:t>
            </a:r>
            <a:endParaRPr lang="en-IN" sz="2200" dirty="0"/>
          </a:p>
          <a:p>
            <a:r>
              <a:rPr lang="en-GB" sz="2200" dirty="0"/>
              <a:t> </a:t>
            </a:r>
            <a:endParaRPr lang="en-IN" sz="2200" dirty="0"/>
          </a:p>
          <a:p>
            <a:r>
              <a:rPr lang="en-GB" sz="2200" dirty="0"/>
              <a:t>Rosebrock, A. (2021). </a:t>
            </a:r>
            <a:r>
              <a:rPr lang="en-GB" sz="2200" b="1" dirty="0"/>
              <a:t>Deep Learning for Computer Vision with Python</a:t>
            </a:r>
            <a:r>
              <a:rPr lang="en-GB" sz="2200" dirty="0"/>
              <a:t>. </a:t>
            </a:r>
            <a:r>
              <a:rPr lang="en-GB" sz="2200" dirty="0" err="1"/>
              <a:t>PyImageSearch</a:t>
            </a:r>
            <a:r>
              <a:rPr lang="en-GB" sz="2200" dirty="0"/>
              <a:t>.</a:t>
            </a:r>
            <a:endParaRPr lang="en-IN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966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488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Bookman Old Style</vt:lpstr>
      <vt:lpstr>Calibri</vt:lpstr>
      <vt:lpstr>Calibri Light</vt:lpstr>
      <vt:lpstr>Tahoma</vt:lpstr>
      <vt:lpstr>Office Theme</vt:lpstr>
      <vt:lpstr>REAL TIME SIGN LANGUAGE TRANSLATOR</vt:lpstr>
      <vt:lpstr>Introduction:</vt:lpstr>
      <vt:lpstr>OBJECTIVE :</vt:lpstr>
      <vt:lpstr>IMPLEMENTATION </vt:lpstr>
      <vt:lpstr>RESULT </vt:lpstr>
      <vt:lpstr>CONLUSION:</vt:lpstr>
      <vt:lpstr>    FUTURE ENHANCEMENT </vt:lpstr>
      <vt:lpstr>REFERENCES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harshini manoharan</dc:creator>
  <cp:lastModifiedBy>harshini manoharan</cp:lastModifiedBy>
  <cp:revision>1</cp:revision>
  <dcterms:created xsi:type="dcterms:W3CDTF">2025-09-12T10:03:27Z</dcterms:created>
  <dcterms:modified xsi:type="dcterms:W3CDTF">2025-09-12T10:03:42Z</dcterms:modified>
</cp:coreProperties>
</file>